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0:40
Nota do apresentador:
Apresente o encontro como validação gerencial de um protótipo local. O objetivo não é homologar
produção, mas verificar se o problema e a direção do produto fazem sentido para os gestores.
Evidência:
`MVP-001_PROTOTYPE_SCOPE.md`; `MVP-001_FINAL_ACCEPTANCE_EVIDENCE.md`.
Transição:
Comecemos pelo problema operacional que motivou a iniciativa.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0:50
Nota do apresentador:
Explique a oportunidade qualitativamente. Não cite quantidade de abas, fórmulas ou economia: essas
afirmações não possuem evidência atual suficiente para uso executivo.
Evidência:
`README.md`; `MVP-001_CURRENT_STATE_ASSESSMENT.md`; documentação de descoberta existente.
Transição:
O primeiro passo foi transformar essa oportunidade em um recorte verificável.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0:50
Nota do apresentador:
Reforce que os números caracterizam somente o dataset local, não o volume real da organização. Os
dados foram construídos para demonstrar isolamento e previsibilidade.
Evidência:
`MVP-001_DEMO_DATASET.md`; `pnpm demo:data:verify` em 31/07/2026.
Transição:
Sobre esse cenário controlado, definimos o objetivo do DP-System.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0:45
Nota do apresentador:
Separe visão de produto e entrega atual. O objetivo é amplo; o que será mostrado hoje é um protótipo
local limitado e honesto.
Evidência:
`README.md`; `MVP-001_PROTOTYPE_SCOPE.md`; `ROADMAP.md`.
Transição:
Agora, o que efetivamente cabe no protótipo disponível.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0:55
Nota do apresentador:
Explique que “real” significa fluxo executado pela API e banco locais, não ambiente produtivo. O
estado restrito é uma decisão de segurança, não uma tela cenográfica.
Evidência:
`MVP-001_IMPLEMENTATION_BACKLOG.md`; `MVP-001_CORE_FLOWS.md`.
Transição:
O roteiro demonstra essas capacidades em uma sequência curta.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0:55
Nota do apresentador:
Antecipe que a demonstração não fará cadastros. Ela comprova identidade, contexto, isolamento,
restrição e operação previsível.
Evidência:
`MVP-001_FINAL_DEMO_SCRIPT.md`; `pnpm demo:rehearse`.
Transição:
Primeiro, a experiência na Horizonte.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0:55
Nota do apresentador:
Mostre o screenshot real. Os agregados são evidência do verificador, não números visíveis para a
conta sem capability. Essa diferença comprova o deny-by-default.
Evidência:
`03-dashboard-horizonte.png`; `MVP-001_DEMO_DATASET.md`; `pnpm demo:data:verify`.
Transição:
A mesma sessão pode mudar de empresa sem misturar os contextos.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0:55
Nota do apresentador:
Compare as duas capturas. Não diga que a interface mostra os agregados: o verificador comprova que
os conjuntos são diferentes e isolados, enquanto o frontend preserva a restrição.
Evidência:
`06-dashboard-atlas.png`; `MVP-001_COMPANY_CONTEXT_FLOW.md`; `pnpm demo:verify`.
Transição:
Essa troca é parte de uma postura de segurança mais ampla.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0:55
Nota do apresentador:
Explique deny-by-default em linguagem simples: na dúvida, o sistema não libera. Segurança completa
ou prontidão produtiva não são alegadas.
Evidência:
`MVP-001_SECURITY_REVIEW.md`; `MVP-001_DEMO_SECURITY_BOUNDARIES.md`.
Transição:
Essa escolha explica por que algumas superfícies aparecem restritas.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0:55
Nota do apresentador:
Não diga “pronto, mas desativado”. Existem telas e APIs históricas, porém o fluxo não integra o
roteiro enquanto a autorização de backend não for migrada e validada.
Evidência:
`05-acesso-restrito.png`; `MVP-001_CORE_FLOWS.md`; `MVP-001_KNOWN_LIMITATIONS.md`.
Transição:
Mesmo com esse limite, a base demonstrativa foi submetida a regressão e estabilidade.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0:55
Nota do apresentador:
Os números são evidências locais e não SLOs de produção. Cobertura ajuda a medir confiança, mas não
elimina riscos nem substitui validação gerencial.
Evidência:
`MVP-001_STABILIZATION_REPORT.md`; `MVP-001_FINAL_ACCEPTANCE_EVIDENCE.md`.
Transição:
Além de estável, a demonstração possui um procedimento operacional simples.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0:50
Nota do apresentador:
Primeira instalação e build podem exigir internet. Depois da preparação, os quatro serviços rodam
localmente. Não projete terminal com credenciais ou arquivos de ambiente.
Evidência:
`DEMO_LOCAL_SETUP.md`; `MVP-001_DEMO_OPERATOR_GUIDE.md`; `MVP-001_PRESENTATION_CONTINGENCY.md`.
Transição:
Transparência operacional também exige explicitar o que ainda falta.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1:00
Nota do apresentador:
Acrescente que não existem cronograma produtivo, orçamento ou suporte aprovados. Essas limitações
não são detalhes a esconder: são insumos para a decisão de continuidade.
Evidência:
`MVP-001_KNOWN_LIMITATIONS.md`; `MVP-001_SECURITY_REVIEW.md`.
Transição:
Com a base e os limites claros, há caminhos possíveis — nenhum ainda aprovado.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0:50
Nota do apresentador:
Não prometa prazo, custo ou equipe. Cada caminho exige nova especificação, decisão e validação.
Evidência:
`MVP-001_MANAGEMENT_DECISION_MATRIX.md`; `ROADMAP.md`.
Transição:
Encerramos com as perguntas que esta reunião precisa responder.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1:00
Nota do apresentador:
Registre a decisão como feedback, não como aprovação automática. Reforce que o protótipo permanece
local e que qualquer evolução será objeto de novo planejamento.
Evidência:
`MVP-001_MANAGER_FEEDBACK_FORM.md`; `MVP-001_MANAGEMENT_DECISION_MATRIX.md`.
Transição:
Abra para perguntas e registre próximos responsáveis sem assumir compromissos não aprovados.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2062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75488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2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42416" y="4572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DP-System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 rot="1080000">
            <a:off x="8092440" y="-914400"/>
            <a:ext cx="5029200" cy="5029200"/>
          </a:xfrm>
          <a:prstGeom prst="arc">
            <a:avLst/>
          </a:prstGeom>
          <a:solidFill>
            <a:srgbClr val="176B8F">
              <a:alpha val="75000"/>
            </a:srgbClr>
          </a:solidFill>
          <a:ln w="25400">
            <a:solidFill>
              <a:srgbClr val="24A2D8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572768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DP-System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22376" y="2423160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DDEC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Protótipo local de gestão integrada de Departamento Pessoal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31520" y="3310128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Evidências, limites e decisão de continuidade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fictícios · 31/07/2026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4800600"/>
            <a:ext cx="2743200" cy="0"/>
          </a:xfrm>
          <a:prstGeom prst="line">
            <a:avLst/>
          </a:prstGeom>
          <a:noFill/>
          <a:ln w="50800">
            <a:solidFill>
              <a:srgbClr val="24A2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01091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D5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Validação gerencial · não representa prontidão produtiva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835640" y="63276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2062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92A3D"/>
          </a:solidFill>
          <a:ln w="12700">
            <a:solidFill>
              <a:srgbClr val="092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75488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42416" y="4572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2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DP-System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que este projeto existe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0698480" y="5029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572768"/>
            <a:ext cx="6537960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12700">
            <a:solidFill>
              <a:srgbClr val="D8E3E9"/>
            </a:solidFill>
            <a:prstDash val="solid"/>
          </a:ln>
          <a:effectLst>
            <a:outerShdw sx="100000" sy="100000" kx="0" ky="0" algn="bl" rotWithShape="0" blurRad="19050" dist="50800" dir="2700000">
              <a:srgbClr val="B8C6CE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847088"/>
            <a:ext cx="59893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Informações distribuídas dificultam uma visão única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Dependência de controles manuais aumenta retrabalho e fragilidade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Regras implícitas reduzem rastreabilidade e previsibilidade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Centralização precisa ocorrer sem presumir regras legais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52360" y="1572768"/>
            <a:ext cx="4114800" cy="4507992"/>
          </a:xfrm>
          <a:prstGeom prst="roundRect">
            <a:avLst>
              <a:gd name="adj" fmla="val 1778"/>
            </a:avLst>
          </a:prstGeom>
          <a:solidFill>
            <a:srgbClr val="092A3D"/>
          </a:solidFill>
          <a:ln w="12700">
            <a:solidFill>
              <a:srgbClr val="092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0" y="18745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4A2D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7882128" y="3246120"/>
            <a:ext cx="3255264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primeiro passo foi transformar essa oportunidade em um recorte verificável.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503920" y="5093208"/>
            <a:ext cx="2011680" cy="0"/>
          </a:xfrm>
          <a:prstGeom prst="line">
            <a:avLst/>
          </a:prstGeom>
          <a:noFill/>
          <a:ln w="38100">
            <a:solidFill>
              <a:srgbClr val="24A2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6428232"/>
            <a:ext cx="11000232" cy="0"/>
          </a:xfrm>
          <a:prstGeom prst="line">
            <a:avLst/>
          </a:prstGeom>
          <a:noFill/>
          <a:ln w="12700">
            <a:solidFill>
              <a:srgbClr val="D8E3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64739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Protótipo local · Dados fictícios · 31/07/2026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81360" y="6446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B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2062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92A3D"/>
          </a:solidFill>
          <a:ln w="12700">
            <a:solidFill>
              <a:srgbClr val="092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75488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42416" y="4572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2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DP-System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 cenário pequeno, porém representativo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0698480" y="5029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572768"/>
            <a:ext cx="6537960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12700">
            <a:solidFill>
              <a:srgbClr val="D8E3E9"/>
            </a:solidFill>
            <a:prstDash val="solid"/>
          </a:ln>
          <a:effectLst>
            <a:outerShdw sx="100000" sy="100000" kx="0" ky="0" algn="bl" rotWithShape="0" blurRad="19050" dist="50800" dir="2700000">
              <a:srgbClr val="B8C6CE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847088"/>
            <a:ext cx="59893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empresas fictícias com contextos separados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 colaboradores e 26 contratos demonstrativos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competências e 8 ciclos de conferência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migrations aplicadas em PostgreSQL 16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Data-base fixa: 01/07/2026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52360" y="1572768"/>
            <a:ext cx="4114800" cy="4507992"/>
          </a:xfrm>
          <a:prstGeom prst="roundRect">
            <a:avLst>
              <a:gd name="adj" fmla="val 1778"/>
            </a:avLst>
          </a:prstGeom>
          <a:solidFill>
            <a:srgbClr val="092A3D"/>
          </a:solidFill>
          <a:ln w="12700">
            <a:solidFill>
              <a:srgbClr val="092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0" y="18745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4A2D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7882128" y="3246120"/>
            <a:ext cx="3255264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Sobre esse cenário controlado, definimos o objetivo do DP-System.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503920" y="5093208"/>
            <a:ext cx="2011680" cy="0"/>
          </a:xfrm>
          <a:prstGeom prst="line">
            <a:avLst/>
          </a:prstGeom>
          <a:noFill/>
          <a:ln w="38100">
            <a:solidFill>
              <a:srgbClr val="24A2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6428232"/>
            <a:ext cx="11000232" cy="0"/>
          </a:xfrm>
          <a:prstGeom prst="line">
            <a:avLst/>
          </a:prstGeom>
          <a:noFill/>
          <a:ln w="12700">
            <a:solidFill>
              <a:srgbClr val="D8E3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64739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Protótipo local · Dados fictícios · 31/07/2026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81360" y="6446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B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2062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92A3D"/>
          </a:solidFill>
          <a:ln w="12700">
            <a:solidFill>
              <a:srgbClr val="092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75488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42416" y="4572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2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DP-System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do DP-System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0698480" y="5029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0:45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572768"/>
            <a:ext cx="6537960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12700">
            <a:solidFill>
              <a:srgbClr val="D8E3E9"/>
            </a:solidFill>
            <a:prstDash val="solid"/>
          </a:ln>
          <a:effectLst>
            <a:outerShdw sx="100000" sy="100000" kx="0" ky="0" algn="bl" rotWithShape="0" blurRad="19050" dist="50800" dir="2700000">
              <a:srgbClr val="B8C6CE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847088"/>
            <a:ext cx="59893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Centralizar informações e rotinas de DP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Tornar estados, vínculos e histórico explícitos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Apoiar conferência e decisão com rastreabilidade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Evoluir em incrementos pequenos e auditáveis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Reduzir dependência de regras implícitas, sem inventá-las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52360" y="1572768"/>
            <a:ext cx="4114800" cy="4507992"/>
          </a:xfrm>
          <a:prstGeom prst="roundRect">
            <a:avLst>
              <a:gd name="adj" fmla="val 1778"/>
            </a:avLst>
          </a:prstGeom>
          <a:solidFill>
            <a:srgbClr val="092A3D"/>
          </a:solidFill>
          <a:ln w="12700">
            <a:solidFill>
              <a:srgbClr val="092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0" y="18745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4A2D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7882128" y="3246120"/>
            <a:ext cx="3255264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Agora, o que efetivamente cabe no protótipo disponível.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503920" y="5093208"/>
            <a:ext cx="2011680" cy="0"/>
          </a:xfrm>
          <a:prstGeom prst="line">
            <a:avLst/>
          </a:prstGeom>
          <a:noFill/>
          <a:ln w="38100">
            <a:solidFill>
              <a:srgbClr val="24A2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6428232"/>
            <a:ext cx="11000232" cy="0"/>
          </a:xfrm>
          <a:prstGeom prst="line">
            <a:avLst/>
          </a:prstGeom>
          <a:noFill/>
          <a:ln w="12700">
            <a:solidFill>
              <a:srgbClr val="D8E3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64739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Protótipo local · Dados fictícios · 31/07/2026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81360" y="6446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B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2062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92A3D"/>
          </a:solidFill>
          <a:ln w="12700">
            <a:solidFill>
              <a:srgbClr val="092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75488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42416" y="4572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2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DP-System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o protótipo entrega hoje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0698480" y="5029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572768"/>
            <a:ext cx="4617720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12700">
            <a:solidFill>
              <a:srgbClr val="D8E3E9"/>
            </a:solidFill>
            <a:prstDash val="solid"/>
          </a:ln>
          <a:effectLst>
            <a:outerShdw sx="100000" sy="100000" kx="0" ky="0" algn="bl" rotWithShape="0" blurRad="19050" dist="50800" dir="2700000">
              <a:srgbClr val="B8C6CE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847088"/>
            <a:ext cx="406908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Inicialização e reset local reproduzíveis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Login, sessão revogável e seleção de empresa reais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com contexto empresarial e estado seguro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fictício e determinístico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GO/NO-GO e ensaio automatizado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Módulos sem autorização permanecem restritos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532120" y="1572768"/>
            <a:ext cx="6035040" cy="4507992"/>
          </a:xfrm>
          <a:prstGeom prst="roundRect">
            <a:avLst>
              <a:gd name="adj" fmla="val 1623"/>
            </a:avLst>
          </a:prstGeom>
          <a:solidFill>
            <a:srgbClr val="092A3D"/>
          </a:solidFill>
          <a:ln w="12700">
            <a:solidFill>
              <a:srgbClr val="092A3D"/>
            </a:solidFill>
            <a:prstDash val="solid"/>
          </a:ln>
        </p:spPr>
      </p:sp>
      <p:pic>
        <p:nvPicPr>
          <p:cNvPr id="10" name="Image 0" descr="C:\Users\Guilherme Estrela\dp-system\docs\presentation\assets\mvp-001\01-login-lo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0992" y="1691640"/>
            <a:ext cx="5797296" cy="36210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715000" y="5449824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 real · 1440×900 · dados fictícios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6428232"/>
            <a:ext cx="11000232" cy="0"/>
          </a:xfrm>
          <a:prstGeom prst="line">
            <a:avLst/>
          </a:prstGeom>
          <a:noFill/>
          <a:ln w="12700">
            <a:solidFill>
              <a:srgbClr val="D8E3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64739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Protótipo local · Dados fictícios · 31/07/2026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881360" y="6446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B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2062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92A3D"/>
          </a:solidFill>
          <a:ln w="12700">
            <a:solidFill>
              <a:srgbClr val="092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75488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42416" y="4572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2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DP-System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Jornada demonstrativa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0698480" y="5029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572768"/>
            <a:ext cx="4617720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12700">
            <a:solidFill>
              <a:srgbClr val="D8E3E9"/>
            </a:solidFill>
            <a:prstDash val="solid"/>
          </a:ln>
          <a:effectLst>
            <a:outerShdw sx="100000" sy="100000" kx="0" ky="0" algn="bl" rotWithShape="0" blurRad="19050" dist="50800" dir="2700000">
              <a:srgbClr val="B8C6CE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847088"/>
            <a:ext cx="406908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Entrar como Administrador Demo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Selecionar Horizonte e validar o contexto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Mostrar dashboard, ajuda e limite seguro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Trocar para Atlas sem resíduos do contexto anterior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Encerrar a sessão e validar o perfil de RH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532120" y="1572768"/>
            <a:ext cx="6035040" cy="4507992"/>
          </a:xfrm>
          <a:prstGeom prst="roundRect">
            <a:avLst>
              <a:gd name="adj" fmla="val 1623"/>
            </a:avLst>
          </a:prstGeom>
          <a:solidFill>
            <a:srgbClr val="092A3D"/>
          </a:solidFill>
          <a:ln w="12700">
            <a:solidFill>
              <a:srgbClr val="092A3D"/>
            </a:solidFill>
            <a:prstDash val="solid"/>
          </a:ln>
        </p:spPr>
      </p:sp>
      <p:pic>
        <p:nvPicPr>
          <p:cNvPr id="10" name="Image 0" descr="C:\Users\Guilherme Estrela\dp-system\docs\presentation\assets\mvp-001\02-seletor-empres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0992" y="1691640"/>
            <a:ext cx="5797296" cy="36210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715000" y="5449824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 real · 1440×900 · dados fictícios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6428232"/>
            <a:ext cx="11000232" cy="0"/>
          </a:xfrm>
          <a:prstGeom prst="line">
            <a:avLst/>
          </a:prstGeom>
          <a:noFill/>
          <a:ln w="12700">
            <a:solidFill>
              <a:srgbClr val="D8E3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64739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Protótipo local · Dados fictícios · 31/07/2026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881360" y="6446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B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2062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92A3D"/>
          </a:solidFill>
          <a:ln w="12700">
            <a:solidFill>
              <a:srgbClr val="092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75488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42416" y="4572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2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DP-System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Horizonte: contexto identificado e seguro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0698480" y="5029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572768"/>
            <a:ext cx="4617720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12700">
            <a:solidFill>
              <a:srgbClr val="D8E3E9"/>
            </a:solidFill>
            <a:prstDash val="solid"/>
          </a:ln>
          <a:effectLst>
            <a:outerShdw sx="100000" sy="100000" kx="0" ky="0" algn="bl" rotWithShape="0" blurRad="19050" dist="50800" dir="2700000">
              <a:srgbClr val="B8C6CE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847088"/>
            <a:ext cx="406908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Empresa ativa exibida no shell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responde no contexto da Horizonte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ciclos, 4 achados abertos e 6 competências no dataset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 demo sem grant recebe “Indicadores restritos”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Nenhuma métrica é liberada por atalho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532120" y="1572768"/>
            <a:ext cx="6035040" cy="4507992"/>
          </a:xfrm>
          <a:prstGeom prst="roundRect">
            <a:avLst>
              <a:gd name="adj" fmla="val 1623"/>
            </a:avLst>
          </a:prstGeom>
          <a:solidFill>
            <a:srgbClr val="092A3D"/>
          </a:solidFill>
          <a:ln w="12700">
            <a:solidFill>
              <a:srgbClr val="092A3D"/>
            </a:solidFill>
            <a:prstDash val="solid"/>
          </a:ln>
        </p:spPr>
      </p:sp>
      <p:pic>
        <p:nvPicPr>
          <p:cNvPr id="10" name="Image 0" descr="C:\Users\Guilherme Estrela\dp-system\docs\presentation\assets\mvp-001\03-dashboard-horizo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0992" y="1691640"/>
            <a:ext cx="5797296" cy="36210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715000" y="5449824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 real · 1440×900 · dados fictícios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6428232"/>
            <a:ext cx="11000232" cy="0"/>
          </a:xfrm>
          <a:prstGeom prst="line">
            <a:avLst/>
          </a:prstGeom>
          <a:noFill/>
          <a:ln w="12700">
            <a:solidFill>
              <a:srgbClr val="D8E3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64739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Protótipo local · Dados fictícios · 31/07/2026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881360" y="6446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B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2062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92A3D"/>
          </a:solidFill>
          <a:ln w="12700">
            <a:solidFill>
              <a:srgbClr val="092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75488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42416" y="4572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2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DP-System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Atlas: troca sem vazamento empresarial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0698480" y="5029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572768"/>
            <a:ext cx="4617720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12700">
            <a:solidFill>
              <a:srgbClr val="D8E3E9"/>
            </a:solidFill>
            <a:prstDash val="solid"/>
          </a:ln>
          <a:effectLst>
            <a:outerShdw sx="100000" sy="100000" kx="0" ky="0" algn="bl" rotWithShape="0" blurRad="19050" dist="50800" dir="2700000">
              <a:srgbClr val="B8C6CE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847088"/>
            <a:ext cx="406908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Vínculo empresarial validado pelo backend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Novo contexto emitido para Atlas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anterior descartado antes da renderização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ciclos, 1 achado aberto e 4 competências no dataset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restrito permanece coerente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532120" y="1572768"/>
            <a:ext cx="6035040" cy="4507992"/>
          </a:xfrm>
          <a:prstGeom prst="roundRect">
            <a:avLst>
              <a:gd name="adj" fmla="val 1623"/>
            </a:avLst>
          </a:prstGeom>
          <a:solidFill>
            <a:srgbClr val="092A3D"/>
          </a:solidFill>
          <a:ln w="12700">
            <a:solidFill>
              <a:srgbClr val="092A3D"/>
            </a:solidFill>
            <a:prstDash val="solid"/>
          </a:ln>
        </p:spPr>
      </p:sp>
      <p:pic>
        <p:nvPicPr>
          <p:cNvPr id="10" name="Image 0" descr="C:\Users\Guilherme Estrela\dp-system\docs\presentation\assets\mvp-001\06-dashboard-atl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0992" y="1691640"/>
            <a:ext cx="5797296" cy="36210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715000" y="5449824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 real · 1440×900 · dados fictícios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6428232"/>
            <a:ext cx="11000232" cy="0"/>
          </a:xfrm>
          <a:prstGeom prst="line">
            <a:avLst/>
          </a:prstGeom>
          <a:noFill/>
          <a:ln w="12700">
            <a:solidFill>
              <a:srgbClr val="D8E3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64739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Protótipo local · Dados fictícios · 31/07/2026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881360" y="6446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B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2062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92A3D"/>
          </a:solidFill>
          <a:ln w="12700">
            <a:solidFill>
              <a:srgbClr val="092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75488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42416" y="4572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2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DP-System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Segurança por padrão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0698480" y="5029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572768"/>
            <a:ext cx="6537960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12700">
            <a:solidFill>
              <a:srgbClr val="D8E3E9"/>
            </a:solidFill>
            <a:prstDash val="solid"/>
          </a:ln>
          <a:effectLst>
            <a:outerShdw sx="100000" sy="100000" kx="0" ky="0" algn="bl" rotWithShape="0" blurRad="19050" dist="50800" dir="2700000">
              <a:srgbClr val="B8C6CE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847088"/>
            <a:ext cx="59893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Autenticação JWT e sessão lógica reais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Empresa ativa vem do principal autenticado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 para sessão inválida; 403 para vínculo ausente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Deny-by-default para capacidades não concedidas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grants e zero capabilities automáticas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Relatórios operacionais sanitizados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52360" y="1572768"/>
            <a:ext cx="4114800" cy="4507992"/>
          </a:xfrm>
          <a:prstGeom prst="roundRect">
            <a:avLst>
              <a:gd name="adj" fmla="val 1778"/>
            </a:avLst>
          </a:prstGeom>
          <a:solidFill>
            <a:srgbClr val="092A3D"/>
          </a:solidFill>
          <a:ln w="12700">
            <a:solidFill>
              <a:srgbClr val="092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0" y="18745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4A2D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7882128" y="3246120"/>
            <a:ext cx="3255264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Essa escolha explica por que algumas superfícies aparecem restritas.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503920" y="5093208"/>
            <a:ext cx="2011680" cy="0"/>
          </a:xfrm>
          <a:prstGeom prst="line">
            <a:avLst/>
          </a:prstGeom>
          <a:noFill/>
          <a:ln w="38100">
            <a:solidFill>
              <a:srgbClr val="24A2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6428232"/>
            <a:ext cx="11000232" cy="0"/>
          </a:xfrm>
          <a:prstGeom prst="line">
            <a:avLst/>
          </a:prstGeom>
          <a:noFill/>
          <a:ln w="12700">
            <a:solidFill>
              <a:srgbClr val="D8E3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64739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Protótipo local · Dados fictícios · 31/07/2026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81360" y="6446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B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2062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92A3D"/>
          </a:solidFill>
          <a:ln w="12700">
            <a:solidFill>
              <a:srgbClr val="092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75488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42416" y="4572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2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DP-System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Limites seguros, não atalhos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0698480" y="5029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572768"/>
            <a:ext cx="4617720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12700">
            <a:solidFill>
              <a:srgbClr val="D8E3E9"/>
            </a:solidFill>
            <a:prstDash val="solid"/>
          </a:ln>
          <a:effectLst>
            <a:outerShdw sx="100000" sy="100000" kx="0" ky="0" algn="bl" rotWithShape="0" blurRad="19050" dist="50800" dir="2700000">
              <a:srgbClr val="B8C6CE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847088"/>
            <a:ext cx="406908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 legadas ainda não possuem proteção canônica uniforme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frontend bloqueia o acesso antes de buscar dados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há CRUD demonstrativo autorizado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foram criados bypasses ou grants para “fazer parecer”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Migração e proteção pertencem à futura ETP-015.4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532120" y="1572768"/>
            <a:ext cx="6035040" cy="4507992"/>
          </a:xfrm>
          <a:prstGeom prst="roundRect">
            <a:avLst>
              <a:gd name="adj" fmla="val 1623"/>
            </a:avLst>
          </a:prstGeom>
          <a:solidFill>
            <a:srgbClr val="092A3D"/>
          </a:solidFill>
          <a:ln w="12700">
            <a:solidFill>
              <a:srgbClr val="092A3D"/>
            </a:solidFill>
            <a:prstDash val="solid"/>
          </a:ln>
        </p:spPr>
      </p:sp>
      <p:pic>
        <p:nvPicPr>
          <p:cNvPr id="10" name="Image 0" descr="C:\Users\Guilherme Estrela\dp-system\docs\presentation\assets\mvp-001\05-acesso-restri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0992" y="1691640"/>
            <a:ext cx="5797296" cy="36210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715000" y="5449824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 real · 1440×900 · dados fictícios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6428232"/>
            <a:ext cx="11000232" cy="0"/>
          </a:xfrm>
          <a:prstGeom prst="line">
            <a:avLst/>
          </a:prstGeom>
          <a:noFill/>
          <a:ln w="12700">
            <a:solidFill>
              <a:srgbClr val="D8E3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64739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Protótipo local · Dados fictícios · 31/07/2026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881360" y="6446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B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2062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92A3D"/>
          </a:solidFill>
          <a:ln w="12700">
            <a:solidFill>
              <a:srgbClr val="092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75488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42416" y="4572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2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DP-System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Evidências de estabilidade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0698480" y="5029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572768"/>
            <a:ext cx="6537960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12700">
            <a:solidFill>
              <a:srgbClr val="D8E3E9"/>
            </a:solidFill>
            <a:prstDash val="solid"/>
          </a:ln>
          <a:effectLst>
            <a:outerShdw sx="100000" sy="100000" kx="0" ky="0" algn="bl" rotWithShape="0" blurRad="19050" dist="50800" dir="2700000">
              <a:srgbClr val="B8C6CE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847088"/>
            <a:ext cx="59893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376 testes executados no aceite da estabilização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Cobertura: API 70,34%; frontend 77,50% em linhas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Soak de 30,3 minutos com 7/7 checkpoints GO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5xx e zero reinício no roteiro aprovado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Stop/start, reset e recuperação de indisponibilidade aprovados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Nenhum defeito P0 ou P1 aberto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52360" y="1572768"/>
            <a:ext cx="4114800" cy="4507992"/>
          </a:xfrm>
          <a:prstGeom prst="roundRect">
            <a:avLst>
              <a:gd name="adj" fmla="val 1778"/>
            </a:avLst>
          </a:prstGeom>
          <a:solidFill>
            <a:srgbClr val="092A3D"/>
          </a:solidFill>
          <a:ln w="12700">
            <a:solidFill>
              <a:srgbClr val="092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0" y="18745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4A2D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7882128" y="3246120"/>
            <a:ext cx="3255264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Além de estável, a demonstração possui um procedimento operacional simples.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503920" y="5093208"/>
            <a:ext cx="2011680" cy="0"/>
          </a:xfrm>
          <a:prstGeom prst="line">
            <a:avLst/>
          </a:prstGeom>
          <a:noFill/>
          <a:ln w="38100">
            <a:solidFill>
              <a:srgbClr val="24A2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6428232"/>
            <a:ext cx="11000232" cy="0"/>
          </a:xfrm>
          <a:prstGeom prst="line">
            <a:avLst/>
          </a:prstGeom>
          <a:noFill/>
          <a:ln w="12700">
            <a:solidFill>
              <a:srgbClr val="D8E3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64739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Protótipo local · Dados fictícios · 31/07/2026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81360" y="6446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B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2062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92A3D"/>
          </a:solidFill>
          <a:ln w="12700">
            <a:solidFill>
              <a:srgbClr val="092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75488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42416" y="4572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2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DP-System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Operação previsível da demonstração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0698480" y="5029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572768"/>
            <a:ext cx="4617720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12700">
            <a:solidFill>
              <a:srgbClr val="D8E3E9"/>
            </a:solidFill>
            <a:prstDash val="solid"/>
          </a:ln>
          <a:effectLst>
            <a:outerShdw sx="100000" sy="100000" kx="0" ky="0" algn="bl" rotWithShape="0" blurRad="19050" dist="50800" dir="2700000">
              <a:srgbClr val="B8C6CE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847088"/>
            <a:ext cx="406908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demo:setup prepara banco, migrations e massa fictícia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demo:ready inicia e executa o gate completo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demo:verify confirma ambiente, dados e segurança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demo:rehearse ensaia o fluxo sem reset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aquecido opera com assets locais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Planos A, B e C evitam improvisos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532120" y="1572768"/>
            <a:ext cx="6035040" cy="4507992"/>
          </a:xfrm>
          <a:prstGeom prst="roundRect">
            <a:avLst>
              <a:gd name="adj" fmla="val 1623"/>
            </a:avLst>
          </a:prstGeom>
          <a:solidFill>
            <a:srgbClr val="092A3D"/>
          </a:solidFill>
          <a:ln w="12700">
            <a:solidFill>
              <a:srgbClr val="092A3D"/>
            </a:solidFill>
            <a:prstDash val="solid"/>
          </a:ln>
        </p:spPr>
      </p:sp>
      <p:pic>
        <p:nvPicPr>
          <p:cNvPr id="10" name="Image 0" descr="C:\Users\Guilherme Estrela\dp-system\docs\presentation\assets\mvp-001\04-ajuda-demonstr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0992" y="1691640"/>
            <a:ext cx="5797296" cy="36210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715000" y="5449824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 real · 1440×900 · dados fictícios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6428232"/>
            <a:ext cx="11000232" cy="0"/>
          </a:xfrm>
          <a:prstGeom prst="line">
            <a:avLst/>
          </a:prstGeom>
          <a:noFill/>
          <a:ln w="12700">
            <a:solidFill>
              <a:srgbClr val="D8E3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64739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Protótipo local · Dados fictícios · 31/07/2026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881360" y="6446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B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2062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92A3D"/>
          </a:solidFill>
          <a:ln w="12700">
            <a:solidFill>
              <a:srgbClr val="092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75488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42416" y="4572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2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DP-System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Limitações e riscos conhecidos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0698480" y="5029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1:00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572768"/>
            <a:ext cx="6537960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12700">
            <a:solidFill>
              <a:srgbClr val="D8E3E9"/>
            </a:solidFill>
            <a:prstDash val="solid"/>
          </a:ln>
          <a:effectLst>
            <a:outerShdw sx="100000" sy="100000" kx="0" ky="0" algn="bl" rotWithShape="0" blurRad="19050" dist="50800" dir="2700000">
              <a:srgbClr val="B8C6CE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847088"/>
            <a:ext cx="59893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Execução exclusivamente local, dependente de Docker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produção, cloud, MFA, refresh ou recuperação de senha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 legadas e CRUD demonstrativo permanecem fora do roteiro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Primeiro build pode exigir internet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Bundle web de 529,69 kB gera warning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advisories transitivos documentados; nenhum crítico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52360" y="1572768"/>
            <a:ext cx="4114800" cy="4507992"/>
          </a:xfrm>
          <a:prstGeom prst="roundRect">
            <a:avLst>
              <a:gd name="adj" fmla="val 1778"/>
            </a:avLst>
          </a:prstGeom>
          <a:solidFill>
            <a:srgbClr val="092A3D"/>
          </a:solidFill>
          <a:ln w="12700">
            <a:solidFill>
              <a:srgbClr val="092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0" y="18745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4A2D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7882128" y="3246120"/>
            <a:ext cx="3255264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a base e os limites claros, há caminhos possíveis — nenhum ainda aprovado.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503920" y="5093208"/>
            <a:ext cx="2011680" cy="0"/>
          </a:xfrm>
          <a:prstGeom prst="line">
            <a:avLst/>
          </a:prstGeom>
          <a:noFill/>
          <a:ln w="38100">
            <a:solidFill>
              <a:srgbClr val="24A2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6428232"/>
            <a:ext cx="11000232" cy="0"/>
          </a:xfrm>
          <a:prstGeom prst="line">
            <a:avLst/>
          </a:prstGeom>
          <a:noFill/>
          <a:ln w="12700">
            <a:solidFill>
              <a:srgbClr val="D8E3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64739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Protótipo local · Dados fictícios · 31/07/2026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81360" y="6446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B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2062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92A3D"/>
          </a:solidFill>
          <a:ln w="12700">
            <a:solidFill>
              <a:srgbClr val="092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75488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42416" y="4572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2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DP-System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Próximos passos possíveis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0698480" y="5029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572768"/>
            <a:ext cx="6537960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12700">
            <a:solidFill>
              <a:srgbClr val="D8E3E9"/>
            </a:solidFill>
            <a:prstDash val="solid"/>
          </a:ln>
          <a:effectLst>
            <a:outerShdw sx="100000" sy="100000" kx="0" ky="0" algn="bl" rotWithShape="0" blurRad="19050" dist="50800" dir="2700000">
              <a:srgbClr val="B8C6CE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847088"/>
            <a:ext cx="59893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problema, linguagem e indicadores com gestores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Consolidar feedback e prioridades de domínio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Decidir se a descoberta da ETP-015.4 deve avançar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Planejar expansão funcional somente após autorização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Tratar produção em iniciativa futura específica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52360" y="1572768"/>
            <a:ext cx="4114800" cy="4507992"/>
          </a:xfrm>
          <a:prstGeom prst="roundRect">
            <a:avLst>
              <a:gd name="adj" fmla="val 1778"/>
            </a:avLst>
          </a:prstGeom>
          <a:solidFill>
            <a:srgbClr val="092A3D"/>
          </a:solidFill>
          <a:ln w="12700">
            <a:solidFill>
              <a:srgbClr val="092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0" y="18745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4A2D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7882128" y="3246120"/>
            <a:ext cx="3255264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Encerramos com as perguntas que esta reunião precisa responder.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503920" y="5093208"/>
            <a:ext cx="2011680" cy="0"/>
          </a:xfrm>
          <a:prstGeom prst="line">
            <a:avLst/>
          </a:prstGeom>
          <a:noFill/>
          <a:ln w="38100">
            <a:solidFill>
              <a:srgbClr val="24A2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6428232"/>
            <a:ext cx="11000232" cy="0"/>
          </a:xfrm>
          <a:prstGeom prst="line">
            <a:avLst/>
          </a:prstGeom>
          <a:noFill/>
          <a:ln w="12700">
            <a:solidFill>
              <a:srgbClr val="D8E3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64739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Protótipo local · Dados fictícios · 31/07/2026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81360" y="6446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B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2062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92A3D"/>
          </a:solidFill>
          <a:ln w="12700">
            <a:solidFill>
              <a:srgbClr val="092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75488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42416" y="4572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2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DP-System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Decisão esperada dos gestores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0698480" y="5029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1:00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572768"/>
            <a:ext cx="6537960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12700">
            <a:solidFill>
              <a:srgbClr val="D8E3E9"/>
            </a:solidFill>
            <a:prstDash val="solid"/>
          </a:ln>
          <a:effectLst>
            <a:outerShdw sx="100000" sy="100000" kx="0" ky="0" algn="bl" rotWithShape="0" blurRad="19050" dist="50800" dir="2700000">
              <a:srgbClr val="B8C6CE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847088"/>
            <a:ext cx="59893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problema está corretamente representado?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dashboard proposto responde às necessidades de gestão?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Quais fluxos devem ser priorizados?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Quais riscos precisam ser tratados primeiro?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iniciativa deve avançar, ser ajustada, mantida ou encerrada?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Quem será responsável pelas próximas decisões de negócio?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52360" y="1572768"/>
            <a:ext cx="4114800" cy="4507992"/>
          </a:xfrm>
          <a:prstGeom prst="roundRect">
            <a:avLst>
              <a:gd name="adj" fmla="val 1778"/>
            </a:avLst>
          </a:prstGeom>
          <a:solidFill>
            <a:srgbClr val="092A3D"/>
          </a:solidFill>
          <a:ln w="12700">
            <a:solidFill>
              <a:srgbClr val="092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0" y="18745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4A2D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7882128" y="3246120"/>
            <a:ext cx="3255264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Abra para perguntas e registre próximos responsáveis sem assumir compromissos não aprovados.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503920" y="5093208"/>
            <a:ext cx="2011680" cy="0"/>
          </a:xfrm>
          <a:prstGeom prst="line">
            <a:avLst/>
          </a:prstGeom>
          <a:noFill/>
          <a:ln w="38100">
            <a:solidFill>
              <a:srgbClr val="24A2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6428232"/>
            <a:ext cx="11000232" cy="0"/>
          </a:xfrm>
          <a:prstGeom prst="line">
            <a:avLst/>
          </a:prstGeom>
          <a:noFill/>
          <a:ln w="12700">
            <a:solidFill>
              <a:srgbClr val="D8E3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64739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Protótipo local · Dados fictícios · 31/07/2026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81360" y="6446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B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DP-System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DP-System — MVP-001</dc:title>
  <dc:subject>MVP-001 — Protótipo local para validação gerencial</dc:subject>
  <dc:creator>Equipe DP-System</dc:creator>
  <cp:lastModifiedBy>Equipe DP-System</cp:lastModifiedBy>
  <cp:revision>1</cp:revision>
  <dcterms:created xsi:type="dcterms:W3CDTF">2026-07-31T14:20:02Z</dcterms:created>
  <dcterms:modified xsi:type="dcterms:W3CDTF">2026-07-31T14:20:02Z</dcterms:modified>
</cp:coreProperties>
</file>